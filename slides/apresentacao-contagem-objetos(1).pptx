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ABF376-3FD0-4CF9-9AF6-F386AEC28519}">
  <a:tblStyle styleId="{9EABF376-3FD0-4CF9-9AF6-F386AEC2851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13a8d843a039c31e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h13a8d843a039c31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h13a8d843a039c31e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3796050"/>
            <a:ext cx="9144000" cy="1347600"/>
          </a:xfrm>
          <a:prstGeom prst="rect">
            <a:avLst/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57200" y="1877215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200"/>
              <a:buFont typeface="Calibri"/>
              <a:buNone/>
            </a:pPr>
            <a:r>
              <a:rPr b="1" i="0" lang="en-US" sz="31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Contagem Paralela de Objetos em Matriz Binária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160200" y="3902240"/>
            <a:ext cx="8229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Sistemas Operacionais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4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Nomes: Artur Schultz, Diego Schaeffer, Enzo Xavier e Rafael Menchik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525" y="282525"/>
            <a:ext cx="559125" cy="83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87058" y="1647688"/>
            <a:ext cx="502800" cy="50280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7058" y="164768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089978" y="1647688"/>
            <a:ext cx="502800" cy="50280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1089978" y="164768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592897" y="164768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1592897" y="164768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095818" y="164768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/>
        </p:nvSpPr>
        <p:spPr>
          <a:xfrm>
            <a:off x="2095818" y="164768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598738" y="164768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2598738" y="164768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87058" y="2150608"/>
            <a:ext cx="502800" cy="50280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587058" y="215060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89978" y="2150608"/>
            <a:ext cx="502800" cy="50280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1089978" y="215060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592897" y="215060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1592897" y="215060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095818" y="215060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2095818" y="215060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598738" y="215060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2598738" y="215060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87058" y="265352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587058" y="265352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89978" y="265352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1089978" y="265352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592897" y="265352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1592897" y="265352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095818" y="2653528"/>
            <a:ext cx="502800" cy="502800"/>
          </a:xfrm>
          <a:prstGeom prst="rect">
            <a:avLst/>
          </a:prstGeom>
          <a:solidFill>
            <a:srgbClr val="3BB27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2095818" y="265352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2598738" y="265352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2598738" y="265352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87058" y="315644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587058" y="315644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089978" y="315644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1089978" y="315644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592897" y="315644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 txBox="1"/>
          <p:nvPr/>
        </p:nvSpPr>
        <p:spPr>
          <a:xfrm>
            <a:off x="1592897" y="315644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2095818" y="3156448"/>
            <a:ext cx="502800" cy="502800"/>
          </a:xfrm>
          <a:prstGeom prst="rect">
            <a:avLst/>
          </a:prstGeom>
          <a:solidFill>
            <a:srgbClr val="3BB27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 txBox="1"/>
          <p:nvPr/>
        </p:nvSpPr>
        <p:spPr>
          <a:xfrm>
            <a:off x="2095818" y="315644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2598738" y="315644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 txBox="1"/>
          <p:nvPr/>
        </p:nvSpPr>
        <p:spPr>
          <a:xfrm>
            <a:off x="2598738" y="315644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87058" y="3659368"/>
            <a:ext cx="502800" cy="502800"/>
          </a:xfrm>
          <a:prstGeom prst="rect">
            <a:avLst/>
          </a:prstGeom>
          <a:solidFill>
            <a:srgbClr val="F18F0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 txBox="1"/>
          <p:nvPr/>
        </p:nvSpPr>
        <p:spPr>
          <a:xfrm>
            <a:off x="587058" y="365936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89978" y="365936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1089978" y="365936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592897" y="365936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 txBox="1"/>
          <p:nvPr/>
        </p:nvSpPr>
        <p:spPr>
          <a:xfrm>
            <a:off x="1592897" y="365936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095818" y="365936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2095818" y="365936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598738" y="3659368"/>
            <a:ext cx="502800" cy="502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2598738" y="3659368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3801958" y="1716265"/>
            <a:ext cx="47550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= pixel, 0 = fundo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Objeto = grupo de 1s vizinhos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exemplo: 3 objetos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Duas versões (sequencial e paralela), mesmo resultado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Conectividade-8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914400" y="1463040"/>
            <a:ext cx="731520" cy="73152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 txBox="1"/>
          <p:nvPr/>
        </p:nvSpPr>
        <p:spPr>
          <a:xfrm>
            <a:off x="914400" y="14630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645920" y="1463040"/>
            <a:ext cx="731520" cy="73152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 txBox="1"/>
          <p:nvPr/>
        </p:nvSpPr>
        <p:spPr>
          <a:xfrm>
            <a:off x="1645920" y="14630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377440" y="1463040"/>
            <a:ext cx="731520" cy="73152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2377440" y="14630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914400" y="2194560"/>
            <a:ext cx="731520" cy="73152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 txBox="1"/>
          <p:nvPr/>
        </p:nvSpPr>
        <p:spPr>
          <a:xfrm>
            <a:off x="914400" y="21945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645920" y="2194560"/>
            <a:ext cx="731520" cy="731520"/>
          </a:xfrm>
          <a:prstGeom prst="rect">
            <a:avLst/>
          </a:prstGeom>
          <a:solidFill>
            <a:srgbClr val="1F2A44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 txBox="1"/>
          <p:nvPr/>
        </p:nvSpPr>
        <p:spPr>
          <a:xfrm>
            <a:off x="1645920" y="21945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2377440" y="2194560"/>
            <a:ext cx="731520" cy="73152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 txBox="1"/>
          <p:nvPr/>
        </p:nvSpPr>
        <p:spPr>
          <a:xfrm>
            <a:off x="2377440" y="21945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14400" y="2926080"/>
            <a:ext cx="731520" cy="73152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 txBox="1"/>
          <p:nvPr/>
        </p:nvSpPr>
        <p:spPr>
          <a:xfrm>
            <a:off x="914400" y="29260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645920" y="2926080"/>
            <a:ext cx="731520" cy="73152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 txBox="1"/>
          <p:nvPr/>
        </p:nvSpPr>
        <p:spPr>
          <a:xfrm>
            <a:off x="1645920" y="29260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2377440" y="2926080"/>
            <a:ext cx="731520" cy="73152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2377440" y="29260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986845" y="3749065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Célula central: até 8 vizinhos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486400" y="1713390"/>
            <a:ext cx="731400" cy="731400"/>
          </a:xfrm>
          <a:prstGeom prst="rect">
            <a:avLst/>
          </a:prstGeom>
          <a:solidFill>
            <a:srgbClr val="3BB27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5486400" y="1713390"/>
            <a:ext cx="7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217920" y="1713390"/>
            <a:ext cx="731400" cy="731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6217920" y="1713390"/>
            <a:ext cx="7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486400" y="2444910"/>
            <a:ext cx="731400" cy="731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5486400" y="2444910"/>
            <a:ext cx="7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217920" y="2444910"/>
            <a:ext cx="731400" cy="731400"/>
          </a:xfrm>
          <a:prstGeom prst="rect">
            <a:avLst/>
          </a:prstGeom>
          <a:solidFill>
            <a:srgbClr val="3BB27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6217920" y="2444910"/>
            <a:ext cx="731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5212190" y="3337585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B273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Diagonal: 1 objeto, não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5212190" y="3749065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(conectividade-4 daria 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Versão sequencial: flood fill com BFS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1097280"/>
            <a:ext cx="4023360" cy="310896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F4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640080" y="1188720"/>
            <a:ext cx="3657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para cada célula (i, j):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se é 1 e não visitada: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contador++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BFS a partir de (i, j):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enfileira a semente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enquanto fila não vazia: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tira (r, 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para cada vizinho-8 que é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e não visitado: marca e enfileira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4846320" y="1188720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Fila iterativa no heap (tamanho L×C), alocada uma vez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BFS e não DFS: evita estouro de pilha (requisito 41)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célula processada uma vez: O(L×C) em tempo e espaço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Versão paralela: visão geral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7200" y="1051560"/>
            <a:ext cx="8229600" cy="749808"/>
          </a:xfrm>
          <a:prstGeom prst="rect">
            <a:avLst/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640080" y="1051560"/>
            <a:ext cx="7863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 Divisão   </a:t>
            </a: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divide em BR×BC blocos e reserva labels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57200" y="1947672"/>
            <a:ext cx="8229600" cy="749808"/>
          </a:xfrm>
          <a:prstGeom prst="rect">
            <a:avLst/>
          </a:prstGeom>
          <a:solidFill>
            <a:srgbClr val="2E86AB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 txBox="1"/>
          <p:nvPr/>
        </p:nvSpPr>
        <p:spPr>
          <a:xfrm>
            <a:off x="640080" y="1947672"/>
            <a:ext cx="7863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 Rotulagem local   </a:t>
            </a: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 threads: BFS dentro de cada bloco (paralelo)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7200" y="2843784"/>
            <a:ext cx="8229600" cy="749808"/>
          </a:xfrm>
          <a:prstGeom prst="rect">
            <a:avLst/>
          </a:prstGeom>
          <a:solidFill>
            <a:srgbClr val="F18F01"/>
          </a:solidFill>
          <a:ln cap="flat" cmpd="sng" w="12700">
            <a:solidFill>
              <a:srgbClr val="F18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640080" y="2843784"/>
            <a:ext cx="7863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 Consolidação   </a:t>
            </a: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une labels vizinhos na DSU (sequencial)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7200" y="3739896"/>
            <a:ext cx="8229600" cy="749808"/>
          </a:xfrm>
          <a:prstGeom prst="rect">
            <a:avLst/>
          </a:prstGeom>
          <a:solidFill>
            <a:srgbClr val="3BB273"/>
          </a:solidFill>
          <a:ln cap="flat" cmpd="sng" w="12700">
            <a:solidFill>
              <a:srgbClr val="3BB2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640080" y="3739896"/>
            <a:ext cx="78638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 Contagem   </a:t>
            </a: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 raízes distintas = nº de objetos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Fronteiras e Union-Find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1371600" y="13716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13716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solidFill>
            <a:srgbClr val="2E86A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371600" y="18288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137160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457200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371600" y="22860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 txBox="1"/>
          <p:nvPr/>
        </p:nvSpPr>
        <p:spPr>
          <a:xfrm>
            <a:off x="1371600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solidFill>
            <a:srgbClr val="B8BEC9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solidFill>
            <a:srgbClr val="F18F0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137160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2103120" y="13716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 txBox="1"/>
          <p:nvPr/>
        </p:nvSpPr>
        <p:spPr>
          <a:xfrm>
            <a:off x="210312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2560320" y="1371600"/>
            <a:ext cx="457200" cy="457200"/>
          </a:xfrm>
          <a:prstGeom prst="rect">
            <a:avLst/>
          </a:prstGeom>
          <a:solidFill>
            <a:srgbClr val="3BB27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256032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017520" y="1371600"/>
            <a:ext cx="457200" cy="457200"/>
          </a:xfrm>
          <a:prstGeom prst="rect">
            <a:avLst/>
          </a:prstGeom>
          <a:solidFill>
            <a:srgbClr val="3BB27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 txBox="1"/>
          <p:nvPr/>
        </p:nvSpPr>
        <p:spPr>
          <a:xfrm>
            <a:off x="301752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2103120" y="18288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210312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2560320" y="18288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256032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017520" y="1828800"/>
            <a:ext cx="457200" cy="457200"/>
          </a:xfrm>
          <a:prstGeom prst="rect">
            <a:avLst/>
          </a:prstGeom>
          <a:solidFill>
            <a:srgbClr val="3BB27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 txBox="1"/>
          <p:nvPr/>
        </p:nvSpPr>
        <p:spPr>
          <a:xfrm>
            <a:off x="301752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103120" y="2286000"/>
            <a:ext cx="457200" cy="457200"/>
          </a:xfrm>
          <a:prstGeom prst="rect">
            <a:avLst/>
          </a:prstGeom>
          <a:solidFill>
            <a:srgbClr val="F18F0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2103120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560320" y="22860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2560320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017520" y="22860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3017520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103120" y="27432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210312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560320" y="27432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256032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3017520" y="2743200"/>
            <a:ext cx="457200" cy="45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3017520" y="2743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AA3B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8"/>
          <p:cNvCxnSpPr/>
          <p:nvPr/>
        </p:nvCxnSpPr>
        <p:spPr>
          <a:xfrm>
            <a:off x="1965960" y="1280160"/>
            <a:ext cx="0" cy="2011680"/>
          </a:xfrm>
          <a:prstGeom prst="straightConnector1">
            <a:avLst/>
          </a:prstGeom>
          <a:noFill/>
          <a:ln cap="flat" cmpd="sng" w="31750">
            <a:solidFill>
              <a:srgbClr val="C0392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5" name="Google Shape;195;p8"/>
          <p:cNvSpPr txBox="1"/>
          <p:nvPr/>
        </p:nvSpPr>
        <p:spPr>
          <a:xfrm>
            <a:off x="457200" y="338328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Esquerda: 3 componentes  |  Direita: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457200" y="37490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Soma ingênua = 5  →  correto = 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457200" y="41148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8F0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18F01"/>
                </a:solidFill>
                <a:latin typeface="Calibri"/>
                <a:ea typeface="Calibri"/>
                <a:cs typeface="Calibri"/>
                <a:sym typeface="Calibri"/>
              </a:rPr>
              <a:t>(3,2) e (2,3): mesmo objeto cortado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label começa como seu próprio grupo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Vizinhos com labels diferentes: unir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Nº de grupos no fim = nº de objetos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find(x): representante · unir(a, b): junta grupos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compression + union by rank: ~O(1)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Sincronização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9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{9EABF376-3FD0-4CF9-9AF6-F386AEC28519}</a:tableStyleId>
              </a:tblPr>
              <a:tblGrid>
                <a:gridCol w="2926075"/>
                <a:gridCol w="53035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Ponto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Mecanismo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A44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Pegar próximo bloco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mutex (só incrementa um índice)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Escrever labels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Nenhum: blocos são disjuntos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Alocar labels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Nenhum: range reservado antes das threads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DSU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Nenhum: roda em uma única thread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7" name="Google Shape;207;p9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B27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 race condition · sem deadlock (nenhum lock aninhado)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10"/>
          <p:cNvGraphicFramePr/>
          <p:nvPr/>
        </p:nvGraphicFramePr>
        <p:xfrm>
          <a:off x="45720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{9EABF376-3FD0-4CF9-9AF6-F386AEC28519}</a:tableStyleId>
              </a:tblPr>
              <a:tblGrid>
                <a:gridCol w="1737350"/>
                <a:gridCol w="822950"/>
                <a:gridCol w="914400"/>
                <a:gridCol w="731525"/>
                <a:gridCol w="9144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Arquivo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Esperado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Seq.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Paralelo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A4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m1_5x5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5×5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m2_6x8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6×8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m3_8x8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8×8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m4_9x12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9×12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m5_12x12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12×12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tabela1_10x10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10×10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tabela2_10x10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10×10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tabela3_10x10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10×10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B27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BB27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A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6" name="Google Shape;216;p10"/>
          <p:cNvSpPr txBox="1"/>
          <p:nvPr/>
        </p:nvSpPr>
        <p:spPr>
          <a:xfrm>
            <a:off x="5852160" y="1097280"/>
            <a:ext cx="29260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Várias combinações de threads e grades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1200×1200 aleatória: mesmo resultado nas duas versões (51.284 objetos)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C89, -Wall -Wextra -pedantic: sem warnings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Desempenho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14400"/>
            <a:ext cx="548640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1"/>
          <p:cNvSpPr txBox="1"/>
          <p:nvPr/>
        </p:nvSpPr>
        <p:spPr>
          <a:xfrm>
            <a:off x="5943600" y="1097280"/>
            <a:ext cx="28346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2 escala com as threads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3 (sequencial) domina: 58% a 75% do tempo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threads: +43% (fragmentada) e +179% (1 componente) vs. sequencial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5943600" y="41148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Grade 16×16 (256 blocos) · i7-1255U (10 núcleos, 12 threads)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cap="flat" cmpd="sng" w="12700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Conclusão e trabalho futuro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Duas versões equivalentes e corretas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2 paralela escala; consolidação sequencial limita o ganho (Amdahl)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Trabalho futuro</a:t>
            </a:r>
            <a:endParaRPr b="0" i="0" sz="2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Consolidar só as fronteiras entre blocos: O(L×C) → O(perímetro)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Eliminar a Fase 4: somar componentes locais e subtrair 1 a cada união efetiva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Variar a grade BR×BC (2×2, 4×4, 8×8)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